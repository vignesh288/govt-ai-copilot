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omfortaa Bold" charset="1" panose="00000800000000000000"/>
      <p:regular r:id="rId17"/>
    </p:embeddedFont>
    <p:embeddedFont>
      <p:font typeface="Raleway Medium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0.pn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72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3411" y="1271880"/>
            <a:ext cx="18180725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  <a:spcBef>
                <a:spcPct val="0"/>
              </a:spcBef>
            </a:pPr>
            <a:r>
              <a:rPr lang="en-US" b="true" sz="4999">
                <a:solidFill>
                  <a:srgbClr val="FFFFFF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1M1B AI SUSTAINABLE DEVELOPMENT PRESENTATION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18695" y="3159968"/>
            <a:ext cx="9650611" cy="669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41"/>
              </a:lnSpc>
              <a:spcBef>
                <a:spcPct val="0"/>
              </a:spcBef>
            </a:pPr>
            <a:r>
              <a:rPr lang="en-US" b="true" sz="4199">
                <a:solidFill>
                  <a:srgbClr val="FFFFFF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TOPIC : GOVERNMENT-AI-COPILOT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29812" y="4934590"/>
            <a:ext cx="11428375" cy="276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7"/>
              </a:lnSpc>
            </a:pPr>
            <a:r>
              <a:rPr lang="en-US" sz="3499" b="true">
                <a:solidFill>
                  <a:srgbClr val="FFFFFF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NAME : JANMANCHI VIGNESH</a:t>
            </a:r>
          </a:p>
          <a:p>
            <a:pPr algn="ctr">
              <a:lnSpc>
                <a:spcPts val="4367"/>
              </a:lnSpc>
            </a:pPr>
            <a:r>
              <a:rPr lang="en-US" sz="3499" b="true">
                <a:solidFill>
                  <a:srgbClr val="FFFFFF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 </a:t>
            </a:r>
          </a:p>
          <a:p>
            <a:pPr algn="ctr">
              <a:lnSpc>
                <a:spcPts val="4367"/>
              </a:lnSpc>
            </a:pPr>
            <a:r>
              <a:rPr lang="en-US" sz="3499" b="true">
                <a:solidFill>
                  <a:srgbClr val="FFFFFF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MAIL : jvignesh369@gmail.com</a:t>
            </a:r>
          </a:p>
          <a:p>
            <a:pPr algn="ctr">
              <a:lnSpc>
                <a:spcPts val="4367"/>
              </a:lnSpc>
            </a:pPr>
          </a:p>
          <a:p>
            <a:pPr algn="ctr">
              <a:lnSpc>
                <a:spcPts val="4367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AICTE ROLL NO :STU671b4639a962b1729840697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38049" y="1652140"/>
            <a:ext cx="8936241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Government AI Copilot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38049" y="2905573"/>
            <a:ext cx="10184311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AI-Powered Digital Governance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938049" y="3851224"/>
            <a:ext cx="4480617" cy="2712244"/>
            <a:chOff x="0" y="0"/>
            <a:chExt cx="5974156" cy="36163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74080" cy="3616325"/>
            </a:xfrm>
            <a:custGeom>
              <a:avLst/>
              <a:gdLst/>
              <a:ahLst/>
              <a:cxnLst/>
              <a:rect r="r" b="b" t="t" l="l"/>
              <a:pathLst>
                <a:path h="3616325" w="5974080">
                  <a:moveTo>
                    <a:pt x="0" y="617220"/>
                  </a:moveTo>
                  <a:cubicBezTo>
                    <a:pt x="0" y="276352"/>
                    <a:pt x="276352" y="0"/>
                    <a:pt x="617220" y="0"/>
                  </a:cubicBezTo>
                  <a:lnTo>
                    <a:pt x="5356860" y="0"/>
                  </a:lnTo>
                  <a:cubicBezTo>
                    <a:pt x="5697728" y="0"/>
                    <a:pt x="5974080" y="276352"/>
                    <a:pt x="5974080" y="617220"/>
                  </a:cubicBezTo>
                  <a:lnTo>
                    <a:pt x="5974080" y="2999105"/>
                  </a:lnTo>
                  <a:cubicBezTo>
                    <a:pt x="5974080" y="3339973"/>
                    <a:pt x="5697728" y="3616325"/>
                    <a:pt x="5356860" y="3616325"/>
                  </a:cubicBezTo>
                  <a:lnTo>
                    <a:pt x="617220" y="3616325"/>
                  </a:lnTo>
                  <a:cubicBezTo>
                    <a:pt x="276352" y="3616325"/>
                    <a:pt x="0" y="3339973"/>
                    <a:pt x="0" y="2999105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246564" y="4140698"/>
            <a:ext cx="34290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Team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46564" y="4668736"/>
            <a:ext cx="3863578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Civic Innovators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727191" y="3851224"/>
            <a:ext cx="4480770" cy="2712244"/>
            <a:chOff x="0" y="0"/>
            <a:chExt cx="5974359" cy="36163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974334" cy="3616325"/>
            </a:xfrm>
            <a:custGeom>
              <a:avLst/>
              <a:gdLst/>
              <a:ahLst/>
              <a:cxnLst/>
              <a:rect r="r" b="b" t="t" l="l"/>
              <a:pathLst>
                <a:path h="3616325" w="5974334">
                  <a:moveTo>
                    <a:pt x="0" y="617220"/>
                  </a:moveTo>
                  <a:cubicBezTo>
                    <a:pt x="0" y="276352"/>
                    <a:pt x="276352" y="0"/>
                    <a:pt x="617220" y="0"/>
                  </a:cubicBezTo>
                  <a:lnTo>
                    <a:pt x="5357114" y="0"/>
                  </a:lnTo>
                  <a:cubicBezTo>
                    <a:pt x="5697982" y="0"/>
                    <a:pt x="5974334" y="276352"/>
                    <a:pt x="5974334" y="617220"/>
                  </a:cubicBezTo>
                  <a:lnTo>
                    <a:pt x="5974334" y="2999105"/>
                  </a:lnTo>
                  <a:cubicBezTo>
                    <a:pt x="5974334" y="3339973"/>
                    <a:pt x="5697982" y="3616325"/>
                    <a:pt x="5357114" y="3616325"/>
                  </a:cubicBezTo>
                  <a:lnTo>
                    <a:pt x="617220" y="3616325"/>
                  </a:lnTo>
                  <a:cubicBezTo>
                    <a:pt x="276352" y="3616325"/>
                    <a:pt x="0" y="3339973"/>
                    <a:pt x="0" y="2999105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035705" y="4140698"/>
            <a:ext cx="34290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Members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35705" y="4668736"/>
            <a:ext cx="3863731" cy="1586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5-member cross-functional team: PM · AI Architect · UX · Backend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938049" y="6871992"/>
            <a:ext cx="9269911" cy="1724616"/>
            <a:chOff x="0" y="0"/>
            <a:chExt cx="12359881" cy="229948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359894" cy="2299462"/>
            </a:xfrm>
            <a:custGeom>
              <a:avLst/>
              <a:gdLst/>
              <a:ahLst/>
              <a:cxnLst/>
              <a:rect r="r" b="b" t="t" l="l"/>
              <a:pathLst>
                <a:path h="2299462" w="12359894">
                  <a:moveTo>
                    <a:pt x="0" y="617220"/>
                  </a:moveTo>
                  <a:cubicBezTo>
                    <a:pt x="0" y="276352"/>
                    <a:pt x="276352" y="0"/>
                    <a:pt x="617220" y="0"/>
                  </a:cubicBezTo>
                  <a:lnTo>
                    <a:pt x="11742674" y="0"/>
                  </a:lnTo>
                  <a:cubicBezTo>
                    <a:pt x="12083542" y="0"/>
                    <a:pt x="12359894" y="276352"/>
                    <a:pt x="12359894" y="617220"/>
                  </a:cubicBezTo>
                  <a:lnTo>
                    <a:pt x="12359894" y="1682242"/>
                  </a:lnTo>
                  <a:cubicBezTo>
                    <a:pt x="12359894" y="2023110"/>
                    <a:pt x="12083542" y="2299462"/>
                    <a:pt x="11742674" y="2299462"/>
                  </a:cubicBezTo>
                  <a:lnTo>
                    <a:pt x="617220" y="2299462"/>
                  </a:lnTo>
                  <a:cubicBezTo>
                    <a:pt x="276352" y="2299462"/>
                    <a:pt x="0" y="2023110"/>
                    <a:pt x="0" y="1682242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246564" y="7161457"/>
            <a:ext cx="34290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Event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46564" y="7689504"/>
            <a:ext cx="8652872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36-hour GovTech Hackathon — 2026-07-04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80049" y="920353"/>
            <a:ext cx="5522119" cy="595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2"/>
              </a:lnSpc>
            </a:pPr>
            <a:r>
              <a:rPr lang="en-US" sz="3600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Problem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0049" y="1695745"/>
            <a:ext cx="9269911" cy="583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599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Current citizen services are slowed by manual steps, language gaps, and opaque workflows — resulting in long waits, inconsistent responses, and low trust.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0049" y="3109017"/>
            <a:ext cx="2303859" cy="307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Long waiting times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0049" y="3470967"/>
            <a:ext cx="9269911" cy="30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599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Backlogs and manual triage extend resolution times.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0049" y="4728867"/>
            <a:ext cx="2303859" cy="307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Manual paperwork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0049" y="5090817"/>
            <a:ext cx="9269911" cy="30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599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Repeated data entry increases errors and cost.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0049" y="6348708"/>
            <a:ext cx="2303859" cy="307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Language barriers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0049" y="6710658"/>
            <a:ext cx="9269911" cy="30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599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Many citizens need multilingual support to access services.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0049" y="7968558"/>
            <a:ext cx="4117181" cy="307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Slow workflows &amp; low transparency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0049" y="8330508"/>
            <a:ext cx="9269911" cy="30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599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Lack of auditability and unclear handoffs undermine accountability.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0049" y="8764486"/>
            <a:ext cx="9269911" cy="583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599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Key stat: typical case turnaround often exceeds several days — automation can reduce that to hours.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978694"/>
            <a:ext cx="10912678" cy="631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699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Existing System — Process &amp; Drawbacks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6419" y="1915116"/>
            <a:ext cx="15995009" cy="6897443"/>
            <a:chOff x="0" y="0"/>
            <a:chExt cx="21326678" cy="919659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326729" cy="9196578"/>
            </a:xfrm>
            <a:custGeom>
              <a:avLst/>
              <a:gdLst/>
              <a:ahLst/>
              <a:cxnLst/>
              <a:rect r="r" b="b" t="t" l="l"/>
              <a:pathLst>
                <a:path h="9196578" w="21326729">
                  <a:moveTo>
                    <a:pt x="0" y="0"/>
                  </a:moveTo>
                  <a:lnTo>
                    <a:pt x="21326729" y="0"/>
                  </a:lnTo>
                  <a:lnTo>
                    <a:pt x="21326729" y="9196578"/>
                  </a:lnTo>
                  <a:lnTo>
                    <a:pt x="0" y="91965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" r="0" b="-3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222697" y="7510701"/>
            <a:ext cx="3225546" cy="422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000000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Officer Response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22697" y="5914053"/>
            <a:ext cx="3436220" cy="422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000000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Department Routing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22697" y="4333532"/>
            <a:ext cx="3225546" cy="422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000000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Clerk Triage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22697" y="2736885"/>
            <a:ext cx="3225546" cy="422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000000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Citizen Request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0049" y="8936536"/>
            <a:ext cx="17042311" cy="34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7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Drawbacks: manual routing, single-language forms, no standard drafting, poor logging, and limited monitoring — all causing delays and inconsistent outcomes.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1451219"/>
            <a:ext cx="15900644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Proposed Solution: Government AI Copilot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2858986"/>
            <a:ext cx="16127911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 secure, auditable AI assistant that automates citizen intake, drafts official documents, routes workflows, and supports officers — with mandatory human approval before finalization.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80049" y="4298452"/>
            <a:ext cx="1085250" cy="1356570"/>
            <a:chOff x="0" y="0"/>
            <a:chExt cx="1447000" cy="180875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447038" cy="1808734"/>
            </a:xfrm>
            <a:custGeom>
              <a:avLst/>
              <a:gdLst/>
              <a:ahLst/>
              <a:cxnLst/>
              <a:rect r="r" b="b" t="t" l="l"/>
              <a:pathLst>
                <a:path h="1808734" w="1447038">
                  <a:moveTo>
                    <a:pt x="0" y="0"/>
                  </a:moveTo>
                  <a:lnTo>
                    <a:pt x="1447038" y="0"/>
                  </a:lnTo>
                  <a:lnTo>
                    <a:pt x="1447038" y="1808734"/>
                  </a:lnTo>
                  <a:lnTo>
                    <a:pt x="0" y="1808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5" r="2" b="-17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551062" y="4279402"/>
            <a:ext cx="227156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AI Chatbot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51062" y="4807448"/>
            <a:ext cx="2271560" cy="3067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24/7 triage via text &amp; voice; intent detection and structured intake.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208394" y="4298452"/>
            <a:ext cx="1085250" cy="1356570"/>
            <a:chOff x="0" y="0"/>
            <a:chExt cx="1447000" cy="1808759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447038" cy="1808734"/>
            </a:xfrm>
            <a:custGeom>
              <a:avLst/>
              <a:gdLst/>
              <a:ahLst/>
              <a:cxnLst/>
              <a:rect r="r" b="b" t="t" l="l"/>
              <a:pathLst>
                <a:path h="1808734" w="1447038">
                  <a:moveTo>
                    <a:pt x="0" y="0"/>
                  </a:moveTo>
                  <a:lnTo>
                    <a:pt x="1447038" y="0"/>
                  </a:lnTo>
                  <a:lnTo>
                    <a:pt x="1447038" y="1808734"/>
                  </a:lnTo>
                  <a:lnTo>
                    <a:pt x="0" y="1808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75" r="2" b="-176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679406" y="4279402"/>
            <a:ext cx="2271712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Voice Support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79406" y="5236073"/>
            <a:ext cx="2271712" cy="3067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Multilingual speech-to-text and text-to-speech for inclusive access.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336881" y="4298452"/>
            <a:ext cx="1085250" cy="1356570"/>
            <a:chOff x="0" y="0"/>
            <a:chExt cx="1447000" cy="1808759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447038" cy="1808734"/>
            </a:xfrm>
            <a:custGeom>
              <a:avLst/>
              <a:gdLst/>
              <a:ahLst/>
              <a:cxnLst/>
              <a:rect r="r" b="b" t="t" l="l"/>
              <a:pathLst>
                <a:path h="1808734" w="1447038">
                  <a:moveTo>
                    <a:pt x="0" y="0"/>
                  </a:moveTo>
                  <a:lnTo>
                    <a:pt x="1447038" y="0"/>
                  </a:lnTo>
                  <a:lnTo>
                    <a:pt x="1447038" y="1808734"/>
                  </a:lnTo>
                  <a:lnTo>
                    <a:pt x="0" y="1808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5" r="2" b="-176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807894" y="4279402"/>
            <a:ext cx="227156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Officer AI Assistant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07894" y="5236073"/>
            <a:ext cx="2271560" cy="356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Draft replies, suggest routing, summarize case history for quick decisions.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465226" y="4298452"/>
            <a:ext cx="1085250" cy="1356570"/>
            <a:chOff x="0" y="0"/>
            <a:chExt cx="1447000" cy="1808759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447038" cy="1808734"/>
            </a:xfrm>
            <a:custGeom>
              <a:avLst/>
              <a:gdLst/>
              <a:ahLst/>
              <a:cxnLst/>
              <a:rect r="r" b="b" t="t" l="l"/>
              <a:pathLst>
                <a:path h="1808734" w="1447038">
                  <a:moveTo>
                    <a:pt x="0" y="0"/>
                  </a:moveTo>
                  <a:lnTo>
                    <a:pt x="1447038" y="0"/>
                  </a:lnTo>
                  <a:lnTo>
                    <a:pt x="1447038" y="1808734"/>
                  </a:lnTo>
                  <a:lnTo>
                    <a:pt x="0" y="1808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75" r="2" b="-176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4936238" y="4279402"/>
            <a:ext cx="2271712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Workflow Automation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936238" y="5236073"/>
            <a:ext cx="2271712" cy="3067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Auto-classification, department routing, and notifications with audit trails.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29570"/>
            <a:ext cx="43434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Objectives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80049" y="1431427"/>
            <a:ext cx="14630400" cy="8229600"/>
            <a:chOff x="0" y="0"/>
            <a:chExt cx="19507200" cy="109728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80049" y="9738274"/>
            <a:ext cx="17042311" cy="19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These objectives prioritise speed, inclusivity, accountability, operational efficiency, and measurable citizen outcomes.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64994"/>
            <a:ext cx="4879181" cy="514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8"/>
              </a:lnSpc>
            </a:pPr>
            <a:r>
              <a:rPr lang="en-US" sz="3099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Key Features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80049" y="1585912"/>
            <a:ext cx="401393" cy="401393"/>
            <a:chOff x="0" y="0"/>
            <a:chExt cx="535191" cy="5351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5178" cy="535178"/>
            </a:xfrm>
            <a:custGeom>
              <a:avLst/>
              <a:gdLst/>
              <a:ahLst/>
              <a:cxnLst/>
              <a:rect r="r" b="b" t="t" l="l"/>
              <a:pathLst>
                <a:path h="535178" w="535178">
                  <a:moveTo>
                    <a:pt x="0" y="267589"/>
                  </a:moveTo>
                  <a:cubicBezTo>
                    <a:pt x="0" y="119761"/>
                    <a:pt x="119761" y="0"/>
                    <a:pt x="267589" y="0"/>
                  </a:cubicBezTo>
                  <a:cubicBezTo>
                    <a:pt x="415417" y="0"/>
                    <a:pt x="535178" y="119761"/>
                    <a:pt x="535178" y="267589"/>
                  </a:cubicBezTo>
                  <a:cubicBezTo>
                    <a:pt x="535178" y="415417"/>
                    <a:pt x="415417" y="535178"/>
                    <a:pt x="267589" y="535178"/>
                  </a:cubicBezTo>
                  <a:cubicBezTo>
                    <a:pt x="119761" y="535178"/>
                    <a:pt x="0" y="415417"/>
                    <a:pt x="0" y="267589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584569" y="1637709"/>
            <a:ext cx="1982391" cy="25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Citizen Portal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4569" y="1947262"/>
            <a:ext cx="15623381" cy="23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Conversational intake, status tracking, receipts.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80049" y="2388241"/>
            <a:ext cx="401393" cy="401393"/>
            <a:chOff x="0" y="0"/>
            <a:chExt cx="535191" cy="5351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5178" cy="535178"/>
            </a:xfrm>
            <a:custGeom>
              <a:avLst/>
              <a:gdLst/>
              <a:ahLst/>
              <a:cxnLst/>
              <a:rect r="r" b="b" t="t" l="l"/>
              <a:pathLst>
                <a:path h="535178" w="535178">
                  <a:moveTo>
                    <a:pt x="0" y="267589"/>
                  </a:moveTo>
                  <a:cubicBezTo>
                    <a:pt x="0" y="119761"/>
                    <a:pt x="119761" y="0"/>
                    <a:pt x="267589" y="0"/>
                  </a:cubicBezTo>
                  <a:cubicBezTo>
                    <a:pt x="415417" y="0"/>
                    <a:pt x="535178" y="119761"/>
                    <a:pt x="535178" y="267589"/>
                  </a:cubicBezTo>
                  <a:cubicBezTo>
                    <a:pt x="535178" y="415417"/>
                    <a:pt x="415417" y="535178"/>
                    <a:pt x="267589" y="535178"/>
                  </a:cubicBezTo>
                  <a:cubicBezTo>
                    <a:pt x="119761" y="535178"/>
                    <a:pt x="0" y="415417"/>
                    <a:pt x="0" y="267589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584569" y="2440038"/>
            <a:ext cx="1982391" cy="25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Officer Portal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4569" y="2749601"/>
            <a:ext cx="15623381" cy="23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Case queue, AI suggestions, approval workflow.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80049" y="3190580"/>
            <a:ext cx="401393" cy="401393"/>
            <a:chOff x="0" y="0"/>
            <a:chExt cx="535191" cy="5351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5178" cy="535178"/>
            </a:xfrm>
            <a:custGeom>
              <a:avLst/>
              <a:gdLst/>
              <a:ahLst/>
              <a:cxnLst/>
              <a:rect r="r" b="b" t="t" l="l"/>
              <a:pathLst>
                <a:path h="535178" w="535178">
                  <a:moveTo>
                    <a:pt x="0" y="267589"/>
                  </a:moveTo>
                  <a:cubicBezTo>
                    <a:pt x="0" y="119761"/>
                    <a:pt x="119761" y="0"/>
                    <a:pt x="267589" y="0"/>
                  </a:cubicBezTo>
                  <a:cubicBezTo>
                    <a:pt x="415417" y="0"/>
                    <a:pt x="535178" y="119761"/>
                    <a:pt x="535178" y="267589"/>
                  </a:cubicBezTo>
                  <a:cubicBezTo>
                    <a:pt x="535178" y="415417"/>
                    <a:pt x="415417" y="535178"/>
                    <a:pt x="267589" y="535178"/>
                  </a:cubicBezTo>
                  <a:cubicBezTo>
                    <a:pt x="119761" y="535178"/>
                    <a:pt x="0" y="415417"/>
                    <a:pt x="0" y="267589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584569" y="3242367"/>
            <a:ext cx="1982391" cy="25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Admin Portal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84569" y="3551930"/>
            <a:ext cx="15623381" cy="23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Role management, logs, system configuration.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80049" y="3992909"/>
            <a:ext cx="401393" cy="401393"/>
            <a:chOff x="0" y="0"/>
            <a:chExt cx="535191" cy="5351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5178" cy="535178"/>
            </a:xfrm>
            <a:custGeom>
              <a:avLst/>
              <a:gdLst/>
              <a:ahLst/>
              <a:cxnLst/>
              <a:rect r="r" b="b" t="t" l="l"/>
              <a:pathLst>
                <a:path h="535178" w="535178">
                  <a:moveTo>
                    <a:pt x="0" y="267589"/>
                  </a:moveTo>
                  <a:cubicBezTo>
                    <a:pt x="0" y="119761"/>
                    <a:pt x="119761" y="0"/>
                    <a:pt x="267589" y="0"/>
                  </a:cubicBezTo>
                  <a:cubicBezTo>
                    <a:pt x="415417" y="0"/>
                    <a:pt x="535178" y="119761"/>
                    <a:pt x="535178" y="267589"/>
                  </a:cubicBezTo>
                  <a:cubicBezTo>
                    <a:pt x="535178" y="415417"/>
                    <a:pt x="415417" y="535178"/>
                    <a:pt x="267589" y="535178"/>
                  </a:cubicBezTo>
                  <a:cubicBezTo>
                    <a:pt x="119761" y="535178"/>
                    <a:pt x="0" y="415417"/>
                    <a:pt x="0" y="267589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584569" y="4044706"/>
            <a:ext cx="1982391" cy="25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AI Chatbot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84569" y="4354268"/>
            <a:ext cx="15623381" cy="23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Intent detection, FAQ handling, escalation triggers.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80049" y="4795237"/>
            <a:ext cx="401393" cy="401393"/>
            <a:chOff x="0" y="0"/>
            <a:chExt cx="535191" cy="5351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5178" cy="535178"/>
            </a:xfrm>
            <a:custGeom>
              <a:avLst/>
              <a:gdLst/>
              <a:ahLst/>
              <a:cxnLst/>
              <a:rect r="r" b="b" t="t" l="l"/>
              <a:pathLst>
                <a:path h="535178" w="535178">
                  <a:moveTo>
                    <a:pt x="0" y="267589"/>
                  </a:moveTo>
                  <a:cubicBezTo>
                    <a:pt x="0" y="119761"/>
                    <a:pt x="119761" y="0"/>
                    <a:pt x="267589" y="0"/>
                  </a:cubicBezTo>
                  <a:cubicBezTo>
                    <a:pt x="415417" y="0"/>
                    <a:pt x="535178" y="119761"/>
                    <a:pt x="535178" y="267589"/>
                  </a:cubicBezTo>
                  <a:cubicBezTo>
                    <a:pt x="535178" y="415417"/>
                    <a:pt x="415417" y="535178"/>
                    <a:pt x="267589" y="535178"/>
                  </a:cubicBezTo>
                  <a:cubicBezTo>
                    <a:pt x="119761" y="535178"/>
                    <a:pt x="0" y="415417"/>
                    <a:pt x="0" y="267589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584569" y="4847034"/>
            <a:ext cx="1982391" cy="25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Voice Recognition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84569" y="5156597"/>
            <a:ext cx="15623381" cy="23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Multilingual STT/TTS for kiosks and helplines.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80049" y="5597576"/>
            <a:ext cx="401393" cy="401393"/>
            <a:chOff x="0" y="0"/>
            <a:chExt cx="535191" cy="53519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5178" cy="535178"/>
            </a:xfrm>
            <a:custGeom>
              <a:avLst/>
              <a:gdLst/>
              <a:ahLst/>
              <a:cxnLst/>
              <a:rect r="r" b="b" t="t" l="l"/>
              <a:pathLst>
                <a:path h="535178" w="535178">
                  <a:moveTo>
                    <a:pt x="0" y="267589"/>
                  </a:moveTo>
                  <a:cubicBezTo>
                    <a:pt x="0" y="119761"/>
                    <a:pt x="119761" y="0"/>
                    <a:pt x="267589" y="0"/>
                  </a:cubicBezTo>
                  <a:cubicBezTo>
                    <a:pt x="415417" y="0"/>
                    <a:pt x="535178" y="119761"/>
                    <a:pt x="535178" y="267589"/>
                  </a:cubicBezTo>
                  <a:cubicBezTo>
                    <a:pt x="535178" y="415417"/>
                    <a:pt x="415417" y="535178"/>
                    <a:pt x="267589" y="535178"/>
                  </a:cubicBezTo>
                  <a:cubicBezTo>
                    <a:pt x="119761" y="535178"/>
                    <a:pt x="0" y="415417"/>
                    <a:pt x="0" y="267589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584569" y="5649363"/>
            <a:ext cx="2239861" cy="25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AI Document Drafting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84569" y="5958926"/>
            <a:ext cx="15623381" cy="23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Template-based official drafts requiring human sign-off.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80049" y="6399905"/>
            <a:ext cx="401393" cy="401393"/>
            <a:chOff x="0" y="0"/>
            <a:chExt cx="535191" cy="53519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5178" cy="535178"/>
            </a:xfrm>
            <a:custGeom>
              <a:avLst/>
              <a:gdLst/>
              <a:ahLst/>
              <a:cxnLst/>
              <a:rect r="r" b="b" t="t" l="l"/>
              <a:pathLst>
                <a:path h="535178" w="535178">
                  <a:moveTo>
                    <a:pt x="0" y="267589"/>
                  </a:moveTo>
                  <a:cubicBezTo>
                    <a:pt x="0" y="119761"/>
                    <a:pt x="119761" y="0"/>
                    <a:pt x="267589" y="0"/>
                  </a:cubicBezTo>
                  <a:cubicBezTo>
                    <a:pt x="415417" y="0"/>
                    <a:pt x="535178" y="119761"/>
                    <a:pt x="535178" y="267589"/>
                  </a:cubicBezTo>
                  <a:cubicBezTo>
                    <a:pt x="535178" y="415417"/>
                    <a:pt x="415417" y="535178"/>
                    <a:pt x="267589" y="535178"/>
                  </a:cubicBezTo>
                  <a:cubicBezTo>
                    <a:pt x="119761" y="535178"/>
                    <a:pt x="0" y="415417"/>
                    <a:pt x="0" y="267589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584569" y="6451702"/>
            <a:ext cx="2162023" cy="25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Multilingual Support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84569" y="6761264"/>
            <a:ext cx="15623381" cy="23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Seamless language translation and localized responses.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80049" y="7202243"/>
            <a:ext cx="401393" cy="401393"/>
            <a:chOff x="0" y="0"/>
            <a:chExt cx="535191" cy="5351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5178" cy="535178"/>
            </a:xfrm>
            <a:custGeom>
              <a:avLst/>
              <a:gdLst/>
              <a:ahLst/>
              <a:cxnLst/>
              <a:rect r="r" b="b" t="t" l="l"/>
              <a:pathLst>
                <a:path h="535178" w="535178">
                  <a:moveTo>
                    <a:pt x="0" y="267589"/>
                  </a:moveTo>
                  <a:cubicBezTo>
                    <a:pt x="0" y="119761"/>
                    <a:pt x="119761" y="0"/>
                    <a:pt x="267589" y="0"/>
                  </a:cubicBezTo>
                  <a:cubicBezTo>
                    <a:pt x="415417" y="0"/>
                    <a:pt x="535178" y="119761"/>
                    <a:pt x="535178" y="267589"/>
                  </a:cubicBezTo>
                  <a:cubicBezTo>
                    <a:pt x="535178" y="415417"/>
                    <a:pt x="415417" y="535178"/>
                    <a:pt x="267589" y="535178"/>
                  </a:cubicBezTo>
                  <a:cubicBezTo>
                    <a:pt x="119761" y="535178"/>
                    <a:pt x="0" y="415417"/>
                    <a:pt x="0" y="267589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584569" y="7254030"/>
            <a:ext cx="2164261" cy="25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Analytics Dashboard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84569" y="7563593"/>
            <a:ext cx="15623381" cy="23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Service KPIs, backlog heatmaps, SLA monitoring.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80049" y="8004572"/>
            <a:ext cx="401393" cy="401393"/>
            <a:chOff x="0" y="0"/>
            <a:chExt cx="535191" cy="53519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5178" cy="535178"/>
            </a:xfrm>
            <a:custGeom>
              <a:avLst/>
              <a:gdLst/>
              <a:ahLst/>
              <a:cxnLst/>
              <a:rect r="r" b="b" t="t" l="l"/>
              <a:pathLst>
                <a:path h="535178" w="535178">
                  <a:moveTo>
                    <a:pt x="0" y="267589"/>
                  </a:moveTo>
                  <a:cubicBezTo>
                    <a:pt x="0" y="119761"/>
                    <a:pt x="119761" y="0"/>
                    <a:pt x="267589" y="0"/>
                  </a:cubicBezTo>
                  <a:cubicBezTo>
                    <a:pt x="415417" y="0"/>
                    <a:pt x="535178" y="119761"/>
                    <a:pt x="535178" y="267589"/>
                  </a:cubicBezTo>
                  <a:cubicBezTo>
                    <a:pt x="535178" y="415417"/>
                    <a:pt x="415417" y="535178"/>
                    <a:pt x="267589" y="535178"/>
                  </a:cubicBezTo>
                  <a:cubicBezTo>
                    <a:pt x="119761" y="535178"/>
                    <a:pt x="0" y="415417"/>
                    <a:pt x="0" y="267589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584569" y="8056369"/>
            <a:ext cx="3299222" cy="25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Role-Based Access &amp; Audit Logs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84569" y="8365931"/>
            <a:ext cx="15623381" cy="23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Complete chain-of-custody for every action.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80049" y="8806901"/>
            <a:ext cx="401393" cy="401393"/>
            <a:chOff x="0" y="0"/>
            <a:chExt cx="535191" cy="53519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5178" cy="535178"/>
            </a:xfrm>
            <a:custGeom>
              <a:avLst/>
              <a:gdLst/>
              <a:ahLst/>
              <a:cxnLst/>
              <a:rect r="r" b="b" t="t" l="l"/>
              <a:pathLst>
                <a:path h="535178" w="535178">
                  <a:moveTo>
                    <a:pt x="0" y="267589"/>
                  </a:moveTo>
                  <a:cubicBezTo>
                    <a:pt x="0" y="119761"/>
                    <a:pt x="119761" y="0"/>
                    <a:pt x="267589" y="0"/>
                  </a:cubicBezTo>
                  <a:cubicBezTo>
                    <a:pt x="415417" y="0"/>
                    <a:pt x="535178" y="119761"/>
                    <a:pt x="535178" y="267589"/>
                  </a:cubicBezTo>
                  <a:cubicBezTo>
                    <a:pt x="535178" y="415417"/>
                    <a:pt x="415417" y="535178"/>
                    <a:pt x="267589" y="535178"/>
                  </a:cubicBezTo>
                  <a:cubicBezTo>
                    <a:pt x="119761" y="535178"/>
                    <a:pt x="0" y="415417"/>
                    <a:pt x="0" y="267589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584569" y="8858698"/>
            <a:ext cx="1982391" cy="25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Notifications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84569" y="9168260"/>
            <a:ext cx="15623381" cy="23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Automated citizen and officer alerts (email/SMS/push).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29570"/>
            <a:ext cx="45187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System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624710" y="1431427"/>
            <a:ext cx="11038437" cy="8762552"/>
            <a:chOff x="0" y="0"/>
            <a:chExt cx="14717916" cy="1168340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4717903" cy="11683365"/>
            </a:xfrm>
            <a:custGeom>
              <a:avLst/>
              <a:gdLst/>
              <a:ahLst/>
              <a:cxnLst/>
              <a:rect r="r" b="b" t="t" l="l"/>
              <a:pathLst>
                <a:path h="11683365" w="14717903">
                  <a:moveTo>
                    <a:pt x="0" y="0"/>
                  </a:moveTo>
                  <a:lnTo>
                    <a:pt x="14717903" y="0"/>
                  </a:lnTo>
                  <a:lnTo>
                    <a:pt x="14717903" y="11683365"/>
                  </a:lnTo>
                  <a:lnTo>
                    <a:pt x="0" y="11683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t="0" r="-2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137541" y="5149558"/>
            <a:ext cx="1983705" cy="122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 b="true">
                <a:solidFill>
                  <a:srgbClr val="000000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System Architecture Flow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88985" y="2369296"/>
            <a:ext cx="2951112" cy="422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React Frontend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88985" y="2968190"/>
            <a:ext cx="2951112" cy="49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9"/>
              </a:lnSpc>
            </a:pPr>
            <a:r>
              <a:rPr lang="en-US" sz="2199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Interactive citizen &amp; officer UIs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70046" y="2167700"/>
            <a:ext cx="2951112" cy="82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Notification Service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70046" y="3169787"/>
            <a:ext cx="2951112" cy="49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9"/>
              </a:lnSpc>
            </a:pPr>
            <a:r>
              <a:rPr lang="en-US" sz="2199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Deliver alerts via channels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70046" y="8126873"/>
            <a:ext cx="2951112" cy="422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Gemini AI API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70046" y="8725767"/>
            <a:ext cx="2951112" cy="49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9"/>
              </a:lnSpc>
            </a:pPr>
            <a:r>
              <a:rPr lang="en-US" sz="2199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NLU, drafting, translation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88985" y="7925276"/>
            <a:ext cx="2951112" cy="82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Spring Boot Backend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88985" y="8927354"/>
            <a:ext cx="2951112" cy="49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9"/>
              </a:lnSpc>
            </a:pPr>
            <a:r>
              <a:rPr lang="en-US" sz="2199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Business logic, RBAC, JWT auth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53413" y="5006169"/>
            <a:ext cx="3015625" cy="82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Secure API Gateway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53413" y="6008256"/>
            <a:ext cx="3015625" cy="49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9"/>
              </a:lnSpc>
            </a:pPr>
            <a:r>
              <a:rPr lang="en-US" sz="2199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Enforces TLS and rate limits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089502" y="5223901"/>
            <a:ext cx="3015625" cy="422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MySQL Database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089502" y="5822785"/>
            <a:ext cx="3015625" cy="49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9"/>
              </a:lnSpc>
            </a:pPr>
            <a:r>
              <a:rPr lang="en-US" sz="2199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Primary store with Audit Logs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80049" y="10367515"/>
            <a:ext cx="6225330" cy="3527669"/>
            <a:chOff x="0" y="0"/>
            <a:chExt cx="8300441" cy="4703559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8300466" cy="4703572"/>
            </a:xfrm>
            <a:custGeom>
              <a:avLst/>
              <a:gdLst/>
              <a:ahLst/>
              <a:cxnLst/>
              <a:rect r="r" b="b" t="t" l="l"/>
              <a:pathLst>
                <a:path h="4703572" w="8300466">
                  <a:moveTo>
                    <a:pt x="0" y="0"/>
                  </a:moveTo>
                  <a:lnTo>
                    <a:pt x="8300466" y="0"/>
                  </a:lnTo>
                  <a:lnTo>
                    <a:pt x="8300466" y="4703572"/>
                  </a:lnTo>
                  <a:lnTo>
                    <a:pt x="0" y="4703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4" r="0" b="-54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691142" y="11378355"/>
            <a:ext cx="2628900" cy="22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299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Flow (high level)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91142" y="11669763"/>
            <a:ext cx="9526191" cy="1255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9560" indent="-144780" lvl="1">
              <a:lnSpc>
                <a:spcPts val="1439"/>
              </a:lnSpc>
              <a:buFont typeface="Arial"/>
              <a:buChar char="•"/>
            </a:pPr>
            <a:r>
              <a:rPr lang="en-US" b="true" sz="1200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React Frontend — interactive citizen &amp; officer UIs</a:t>
            </a:r>
          </a:p>
          <a:p>
            <a:pPr algn="l" marL="289560" indent="-144780" lvl="1">
              <a:lnSpc>
                <a:spcPts val="1439"/>
              </a:lnSpc>
              <a:buFont typeface="Arial"/>
              <a:buChar char="•"/>
            </a:pPr>
            <a:r>
              <a:rPr lang="en-US" b="true" sz="1200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Spring Boot Backend — business logic, RBAC, APIs</a:t>
            </a:r>
          </a:p>
          <a:p>
            <a:pPr algn="l" marL="289560" indent="-144780" lvl="1">
              <a:lnSpc>
                <a:spcPts val="1439"/>
              </a:lnSpc>
              <a:buFont typeface="Arial"/>
              <a:buChar char="•"/>
            </a:pPr>
            <a:r>
              <a:rPr lang="en-US" b="true" sz="1200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Gemini API — NLU, drafting, translation, summarization</a:t>
            </a:r>
          </a:p>
          <a:p>
            <a:pPr algn="l" marL="289560" indent="-144780" lvl="1">
              <a:lnSpc>
                <a:spcPts val="1439"/>
              </a:lnSpc>
              <a:buFont typeface="Arial"/>
              <a:buChar char="•"/>
            </a:pPr>
            <a:r>
              <a:rPr lang="en-US" b="true" sz="1200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MySQL — primary relational store; Audit Logs table for traceability</a:t>
            </a:r>
          </a:p>
          <a:p>
            <a:pPr algn="l" marL="289560" indent="-144780" lvl="1">
              <a:lnSpc>
                <a:spcPts val="1439"/>
              </a:lnSpc>
              <a:buFont typeface="Arial"/>
              <a:buChar char="•"/>
            </a:pPr>
            <a:r>
              <a:rPr lang="en-US" b="true" sz="1200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Notification Service — async delivery (email/SMS/push)</a:t>
            </a:r>
          </a:p>
          <a:p>
            <a:pPr algn="l" marL="289560" indent="-144780" lvl="1">
              <a:lnSpc>
                <a:spcPts val="1439"/>
              </a:lnSpc>
              <a:buFont typeface="Arial"/>
              <a:buChar char="•"/>
            </a:pPr>
            <a:r>
              <a:rPr lang="en-US" b="true" sz="1200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Admin Dashboard — monitoring, user &amp; policy controls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34923"/>
            <a:ext cx="6915150" cy="788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5"/>
              </a:lnSpc>
            </a:pPr>
            <a:r>
              <a:rPr lang="en-US" sz="4700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Technology Stack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3194599"/>
            <a:ext cx="3000375" cy="39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Frontend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0049" y="3748678"/>
            <a:ext cx="7734595" cy="48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React · HTML · CSS · JavaScript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049" y="5653678"/>
            <a:ext cx="3000375" cy="39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Backend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0049" y="6207766"/>
            <a:ext cx="7734595" cy="48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Spring Boot · Java · Spring Security · JWT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0049" y="8112766"/>
            <a:ext cx="3000375" cy="39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Database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0049" y="8666855"/>
            <a:ext cx="7734595" cy="48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MySQL (relational schema, audit tables)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53240" y="2224240"/>
            <a:ext cx="3000375" cy="39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AI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53240" y="2778328"/>
            <a:ext cx="6764236" cy="48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Gemini API — intent detection, drafting, translation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53240" y="3712959"/>
            <a:ext cx="3000375" cy="39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Tools &amp; DevOps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53240" y="4267048"/>
            <a:ext cx="6764236" cy="48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Git · Docker · Postman · Maven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53240" y="5201688"/>
            <a:ext cx="3000375" cy="39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Deployment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53240" y="5755777"/>
            <a:ext cx="6764236" cy="48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Render / Railway for rapid prototype deployment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47277"/>
            <a:ext cx="7558088" cy="859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9"/>
              </a:lnSpc>
            </a:pPr>
            <a:r>
              <a:rPr lang="en-US" sz="5199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Core Workflows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38262" y="2285552"/>
            <a:ext cx="15611323" cy="5858027"/>
            <a:chOff x="0" y="0"/>
            <a:chExt cx="20815097" cy="781070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0815046" cy="7810754"/>
            </a:xfrm>
            <a:custGeom>
              <a:avLst/>
              <a:gdLst/>
              <a:ahLst/>
              <a:cxnLst/>
              <a:rect r="r" b="b" t="t" l="l"/>
              <a:pathLst>
                <a:path h="7810754" w="20815046">
                  <a:moveTo>
                    <a:pt x="0" y="0"/>
                  </a:moveTo>
                  <a:lnTo>
                    <a:pt x="20815046" y="0"/>
                  </a:lnTo>
                  <a:lnTo>
                    <a:pt x="20815046" y="7810754"/>
                  </a:lnTo>
                  <a:lnTo>
                    <a:pt x="0" y="7810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9" r="0" b="-7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952010" y="6526044"/>
            <a:ext cx="2354628" cy="825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Assign Officer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84535" y="6526044"/>
            <a:ext cx="2354628" cy="825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Dept Classification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33185" y="6727641"/>
            <a:ext cx="2354628" cy="422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AI Intent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81835" y="6526044"/>
            <a:ext cx="2354628" cy="825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Submit Complaint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65973" y="6727641"/>
            <a:ext cx="2354628" cy="422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Login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0049" y="8374113"/>
            <a:ext cx="16127911" cy="1037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5"/>
              </a:lnSpc>
            </a:pPr>
            <a:r>
              <a:rPr lang="en-US" sz="23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Designed for clear handoffs, mandatory human approval before document generation, and an immutable audit trail for every action.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29570"/>
            <a:ext cx="49003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Database &amp; ER Design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80049" y="1479652"/>
            <a:ext cx="7875832" cy="7875832"/>
            <a:chOff x="0" y="0"/>
            <a:chExt cx="10501109" cy="10501109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501122" cy="10501122"/>
            </a:xfrm>
            <a:custGeom>
              <a:avLst/>
              <a:gdLst/>
              <a:ahLst/>
              <a:cxnLst/>
              <a:rect r="r" b="b" t="t" l="l"/>
              <a:pathLst>
                <a:path h="10501122" w="10501122">
                  <a:moveTo>
                    <a:pt x="0" y="0"/>
                  </a:moveTo>
                  <a:lnTo>
                    <a:pt x="10501122" y="0"/>
                  </a:lnTo>
                  <a:lnTo>
                    <a:pt x="10501122" y="10501122"/>
                  </a:lnTo>
                  <a:lnTo>
                    <a:pt x="0" y="10501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341644" y="4636741"/>
            <a:ext cx="8790232" cy="19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Primary relationships: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41644" y="4891240"/>
            <a:ext cx="7875832" cy="1042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9560" indent="-144780" lvl="1">
              <a:lnSpc>
                <a:spcPts val="1439"/>
              </a:lnSpc>
              <a:buFont typeface="Arial"/>
              <a:buChar char="•"/>
            </a:pPr>
            <a:r>
              <a:rPr lang="en-US" b="true" sz="1200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Users 1—* Complaints (citizen &amp; officer roles)</a:t>
            </a:r>
          </a:p>
          <a:p>
            <a:pPr algn="l" marL="289560" indent="-144780" lvl="1">
              <a:lnSpc>
                <a:spcPts val="1439"/>
              </a:lnSpc>
              <a:buFont typeface="Arial"/>
              <a:buChar char="•"/>
            </a:pPr>
            <a:r>
              <a:rPr lang="en-US" b="true" sz="1200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Departments 1—* Complaints (classification)</a:t>
            </a:r>
          </a:p>
          <a:p>
            <a:pPr algn="l" marL="289560" indent="-144780" lvl="1">
              <a:lnSpc>
                <a:spcPts val="1439"/>
              </a:lnSpc>
              <a:buFont typeface="Arial"/>
              <a:buChar char="•"/>
            </a:pPr>
            <a:r>
              <a:rPr lang="en-US" b="true" sz="1200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Complaints 1—* Documents (drafts &amp; final)</a:t>
            </a:r>
          </a:p>
          <a:p>
            <a:pPr algn="l" marL="289560" indent="-144780" lvl="1">
              <a:lnSpc>
                <a:spcPts val="1439"/>
              </a:lnSpc>
              <a:buFont typeface="Arial"/>
              <a:buChar char="•"/>
            </a:pPr>
            <a:r>
              <a:rPr lang="en-US" b="true" sz="1200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AuditLogs record all CRUD actions linked to entity IDs</a:t>
            </a:r>
          </a:p>
          <a:p>
            <a:pPr algn="l" marL="289560" indent="-144780" lvl="1">
              <a:lnSpc>
                <a:spcPts val="1439"/>
              </a:lnSpc>
              <a:buFont typeface="Arial"/>
              <a:buChar char="•"/>
            </a:pPr>
            <a:r>
              <a:rPr lang="en-US" b="true" sz="1200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Notifications reference Users and Complaints for targeted delivery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41644" y="5994054"/>
            <a:ext cx="8790232" cy="19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ER supports full traceability and reporting for governance audits.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DAHOaPRHFjk</dc:identifier>
  <dcterms:modified xsi:type="dcterms:W3CDTF">2011-08-01T06:04:30Z</dcterms:modified>
  <cp:revision>1</cp:revision>
  <dc:title>ppt1.pptx</dc:title>
</cp:coreProperties>
</file>